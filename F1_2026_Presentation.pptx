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ADC3C7-563D-0E78-9375-825F0EA2D4A9}" v="30" dt="2026-09-08T13:42:28.964"/>
    <p1510:client id="{DD3279CC-2FD8-86FD-C39C-605982FA890A}" v="4" dt="2026-09-07T21:52:19.4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B0E5-2D4B-4014-820D-54BCA69FAB0D}" type="datetimeFigureOut">
              <a:t>08/09/2026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E244F1-4BF8-4F43-BB87-6564AD86BF8A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2723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E106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731520"/>
            <a:ext cx="3657600" cy="3657600"/>
          </a:xfrm>
          <a:prstGeom prst="ellipse">
            <a:avLst/>
          </a:prstGeom>
          <a:solidFill>
            <a:srgbClr val="E10600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 PROJECT — 2026 SEASON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1 2026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Multi-Source Data Management Pipeline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· Storage · Cleaning · Integration · Quality Assessment · Analysis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806440"/>
            <a:ext cx="2194560" cy="0"/>
          </a:xfrm>
          <a:prstGeom prst="line">
            <a:avLst/>
          </a:prstGeom>
          <a:noFill/>
          <a:ln w="25400">
            <a:solidFill>
              <a:srgbClr val="E106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Filippo Avon  —  Matricola 886229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2362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Milano-Bicocca  |  Data Management  |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70"/>
                </a:solidFill>
                <a:latin typeface="Calibri"/>
                <a:ea typeface="Calibri"/>
                <a:cs typeface="Calibri"/>
              </a:rPr>
              <a:t>A short abstract of the domain and of the project.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F2F2F4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E106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500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1 in Brief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260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tier of open-wheel motorsport: 10 teams, roughly 20 drivers, about 24 Grands Prix per season worldwide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(practice, qualifying, race) generates dense timing, telemetry and strategy data — lap times, pit stops, tyre choices, car sensor readings sampled several times per second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rich, real-world domain for data management: high volume, multiple independent official and community data sources, and meaningful relationships between drivers, teams, races and circuits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89320" y="160020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15151E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187452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00A19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3500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in One Paragraph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9260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data management pipeline built around the 2026 F1 season, combining a relational dataset (historical results) and a semi-structured dataset (session telemetry) from two independent public sources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full lifecycle: acquisition, storage (MySQL + MongoDB), cleaning, integration &amp; enrichment, data quality assessment, and analysis through four research questions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demonstrate not just “getting an answer”, but doing so with measured, documented data quality at every step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2026 — Data Management Project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reproducible pipeline combining a relational and a semi-structured data source for the 2026 F1 season.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F2F2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98064" y="2011680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F2F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98064" y="214884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47,771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798064" y="292608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files acquired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47488" y="2011680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F2F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47488" y="214884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047488" y="292608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(MySQL + MongoDB)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96912" y="2011680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F2F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96912" y="214884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A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296912" y="292608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&amp; race match rate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46336" y="2011680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F2F2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546336" y="214884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546336" y="292608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answered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329184" cy="329184"/>
          </a:xfrm>
          <a:prstGeom prst="ellipse">
            <a:avLst/>
          </a:prstGeom>
          <a:solidFill>
            <a:srgbClr val="15151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617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4572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— Fastest pit stop of the 2026 season?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4617720"/>
            <a:ext cx="329184" cy="329184"/>
          </a:xfrm>
          <a:prstGeom prst="ellipse">
            <a:avLst/>
          </a:prstGeom>
          <a:solidFill>
            <a:srgbClr val="15151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035040" y="4617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510528" y="4572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— Highest peak speed recorded in 2026?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184648"/>
            <a:ext cx="329184" cy="329184"/>
          </a:xfrm>
          <a:prstGeom prst="ellipse">
            <a:avLst/>
          </a:prstGeom>
          <a:solidFill>
            <a:srgbClr val="00A19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5184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51389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— Best race pace on MEDIUM tyres at Barcelona?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035040" y="5184648"/>
            <a:ext cx="329184" cy="329184"/>
          </a:xfrm>
          <a:prstGeom prst="ellipse">
            <a:avLst/>
          </a:prstGeom>
          <a:solidFill>
            <a:srgbClr val="00A19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035040" y="5184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510528" y="51389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— Best qualifying-to-race “comeback”?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2026 — Data Management Project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Pipeline: Six Stages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1515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88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2834640"/>
            <a:ext cx="134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420051" y="237744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15151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29779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511491" y="2788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157411" y="2834640"/>
            <a:ext cx="134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291462" y="237744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1515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01190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382902" y="2788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028822" y="2834640"/>
            <a:ext cx="134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62873" y="237744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15151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72601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54313" y="2788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</a:t>
            </a:r>
            <a:endParaRPr lang="en-US" sz="1350" dirty="0"/>
          </a:p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900233" y="2834640"/>
            <a:ext cx="134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034284" y="237744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15151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44012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125724" y="2788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50" dirty="0"/>
          </a:p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771644" y="2834640"/>
            <a:ext cx="134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905695" y="237744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E1060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15423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997135" y="2788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50" dirty="0"/>
          </a:p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queries)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297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A3A3F"/>
                </a:solidFill>
                <a:latin typeface="Calibri"/>
                <a:ea typeface="Calibri"/>
                <a:cs typeface="Calibri"/>
              </a:rPr>
              <a:t>Every stage is implemented as an independent Python script, orchestrated from a Jupyter notebook, with both databases running as reproducible Docker containers.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48640" y="5212080"/>
            <a:ext cx="10177272" cy="1051560"/>
          </a:xfrm>
          <a:prstGeom prst="roundRect">
            <a:avLst>
              <a:gd name="adj" fmla="val 6957"/>
            </a:avLst>
          </a:prstGeom>
          <a:solidFill>
            <a:srgbClr val="F2F2F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53492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 </a:t>
            </a:r>
            <a:r>
              <a:rPr lang="en-US" sz="130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DBMS chosen to match the shape of each source — a relational store for Kaggle’s tabular, foreign-key-linked data, and a document store for TracingInsights’ heterogeneous, session-dependent JSON.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2026 — Data Management Project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Data Sources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120640" cy="4709160"/>
          </a:xfrm>
          <a:prstGeom prst="roundRect">
            <a:avLst>
              <a:gd name="adj" fmla="val 1942"/>
            </a:avLst>
          </a:prstGeom>
          <a:solidFill>
            <a:srgbClr val="F2F2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515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877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jtrotman/formula-1-race-data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44952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Ergast-style CSV files: races, results, qualifying, lap_times, pit_stops, standings, drivers, constructors, circuits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history: 1950 – 2026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via the official kagglehub Python library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to the 2026 season during Data Cleaning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5532120"/>
            <a:ext cx="4480560" cy="384048"/>
          </a:xfrm>
          <a:prstGeom prst="roundRect">
            <a:avLst>
              <a:gd name="adj" fmla="val 19048"/>
            </a:avLst>
          </a:prstGeom>
          <a:solidFill>
            <a:srgbClr val="15151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55321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stored in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1417320"/>
            <a:ext cx="5120640" cy="4709160"/>
          </a:xfrm>
          <a:prstGeom prst="roundRect">
            <a:avLst>
              <a:gd name="adj" fmla="val 1942"/>
            </a:avLst>
          </a:prstGeom>
          <a:solidFill>
            <a:srgbClr val="F2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16916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0A19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1691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1031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TracingInsights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5877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github.com/TracingInsights/2026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044952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JSON derived from FastF1: telemetry (~3.7 Hz), lap times, tyre compound, weather, race control, circuit corners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47,771 files across the 2026 season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via the GitHub REST API (Trees API + Contents API fallback)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download, then consolidated during Data Cleaning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5532120"/>
            <a:ext cx="4480560" cy="384048"/>
          </a:xfrm>
          <a:prstGeom prst="roundRect">
            <a:avLst>
              <a:gd name="adj" fmla="val 19048"/>
            </a:avLst>
          </a:prstGeom>
          <a:solidFill>
            <a:srgbClr val="15151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9360" y="55321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stored in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7.0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2026 — Data Management Project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pipeline, from source APIs to the four research-question results.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source-specific acquisition scripts (kagglehub / GitHub API)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Docker containers: MySQL 8.0 + MongoDB 7.0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pandas-based integration layer building a key-mapping table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update_many() enrichment (no per-document writes)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(SQLAlchemy) and MongoDB aggregation for the 4 queries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89204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2F2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502920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Reproducibility:  </a:t>
            </a:r>
            <a:r>
              <a:rPr lang="en-US" sz="125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storage layer is defined in a single docker-compose.yml — any evaluator can recreate an identical environment with one command.</a:t>
            </a:r>
            <a:endParaRPr lang="en-US" sz="1250" dirty="0"/>
          </a:p>
        </p:txBody>
      </p:sp>
      <p:pic>
        <p:nvPicPr>
          <p:cNvPr id="7" name="Image 0" descr="assets/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367" y="502920"/>
            <a:ext cx="4828128" cy="58064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2026 — Data Management Project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Relational Schema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f1_kaggle — 13 tables, filtered to the 2026 season (lookup tables kept in full)</a:t>
            </a:r>
            <a:endParaRPr lang="en-US" sz="1300" dirty="0"/>
          </a:p>
        </p:txBody>
      </p:sp>
      <p:pic>
        <p:nvPicPr>
          <p:cNvPr id="4" name="Image 0" descr="assets/mysql_schema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338" y="1371600"/>
            <a:ext cx="7725019" cy="5029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2026 — Data Management Project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Document Structure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f1_tracinginsights — 8 collections after cleaning (down from 174 originally)</a:t>
            </a:r>
            <a:endParaRPr lang="en-US" sz="1300" dirty="0"/>
          </a:p>
        </p:txBody>
      </p:sp>
      <p:pic>
        <p:nvPicPr>
          <p:cNvPr id="4" name="Image 0" descr="assets/mongodb_schema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289" y="1417320"/>
            <a:ext cx="7513117" cy="4983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2026 — Data Management Project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Cleaning: Two Issues Found &amp; Fixed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120640" cy="4709160"/>
          </a:xfrm>
          <a:prstGeom prst="roundRect">
            <a:avLst>
              <a:gd name="adj" fmla="val 1942"/>
            </a:avLst>
          </a:prstGeom>
          <a:solidFill>
            <a:srgbClr val="F2F2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season scope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68680" y="2286000"/>
            <a:ext cx="2057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ADA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377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 – 2026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91840" y="2286000"/>
            <a:ext cx="2057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00A19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2377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only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880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races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74904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races.year identifies the relevant raceId values; the filter is propagated to every race-level table. Reference tables (drivers, constructors, circuits, status) are kept in full as join targets.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1417320"/>
            <a:ext cx="5120640" cy="4709160"/>
          </a:xfrm>
          <a:prstGeom prst="roundRect">
            <a:avLst>
              <a:gd name="adj" fmla="val 1942"/>
            </a:avLst>
          </a:prstGeom>
          <a:solidFill>
            <a:srgbClr val="F2F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1691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— collection fragmentation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309360" y="2286000"/>
            <a:ext cx="2057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ADA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2377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880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(1 per lap file)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732520" y="2286000"/>
            <a:ext cx="2057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00A19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32520" y="2377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732520" y="2880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collections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374904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logic used each filename as the collection name, fragmenting telemetry into ~150 collections. Rewritten to route by path depth, consolidating all telemetry into one collection.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2026 — Data Management Project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Enrichment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uses numeric surrogate keys; MongoDB uses human-readable identifiers. An automated mapping procedure reconciles the two — and its accuracy is explicitly measured.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246120" cy="2651760"/>
          </a:xfrm>
          <a:prstGeom prst="roundRect">
            <a:avLst>
              <a:gd name="adj" fmla="val 3448"/>
            </a:avLst>
          </a:prstGeom>
          <a:solidFill>
            <a:srgbClr val="F2F2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A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races matched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747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direct + 1 manual mapping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(“Barcelona” name variant)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testing sessions correctly excluded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23360" y="1965960"/>
            <a:ext cx="3246120" cy="2651760"/>
          </a:xfrm>
          <a:prstGeom prst="roundRect">
            <a:avLst>
              <a:gd name="adj" fmla="val 3448"/>
            </a:avLst>
          </a:prstGeom>
          <a:solidFill>
            <a:srgbClr val="F2F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023360" y="21945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A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23/23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championship drivers matched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34747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direct match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reserve/test-only codes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left unmatched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0" y="1965960"/>
            <a:ext cx="3246120" cy="2651760"/>
          </a:xfrm>
          <a:prstGeom prst="roundRect">
            <a:avLst>
              <a:gd name="adj" fmla="val 3448"/>
            </a:avLst>
          </a:prstGeom>
          <a:solidFill>
            <a:srgbClr val="F2F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0" y="21945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 found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34747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results: 0 duplicates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telemetry: 0 duplicates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(uniqueness check)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0177272" cy="1234440"/>
          </a:xfrm>
          <a:prstGeom prst="roundRect">
            <a:avLst>
              <a:gd name="adj" fmla="val 5926"/>
            </a:avLst>
          </a:prstGeom>
          <a:solidFill>
            <a:srgbClr val="15151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02920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enrichment gap was traced to a documented, structural cause (pre-season testing sessions, reserve drivers) — not to an unexplained integration error. This distinction is the core deliverable of the quality assessment.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2026 — Data Management Project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Assessment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F2F2F4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627632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1515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276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INTEGRATION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414016"/>
            <a:ext cx="47091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ADA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6888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completeness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73405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missing cells — all 9 tables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3200400"/>
            <a:ext cx="47091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ADA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325526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referential integrity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52044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 foreign keys 100% valid, 0 orphaned rows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3986784"/>
            <a:ext cx="47091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ADA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404164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key completeness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30682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17/17 checks 100% (grand_prix, session, driver_code, lap)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4773168"/>
            <a:ext cx="47091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ADA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482803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 (both sources)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509320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duplicates — MySQL results, MongoDB telemetry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1371600"/>
            <a:ext cx="4553712" cy="4526280"/>
          </a:xfrm>
          <a:prstGeom prst="roundRect">
            <a:avLst>
              <a:gd name="adj" fmla="val 2020"/>
            </a:avLst>
          </a:prstGeom>
          <a:solidFill>
            <a:srgbClr val="15151E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1627632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E106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1627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INTEGRATION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2414016"/>
            <a:ext cx="3913632" cy="676656"/>
          </a:xfrm>
          <a:prstGeom prst="roundRect">
            <a:avLst>
              <a:gd name="adj" fmla="val 10811"/>
            </a:avLst>
          </a:prstGeom>
          <a:solidFill>
            <a:srgbClr val="2323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75120" y="246888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raceId coverage (MongoDB)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2734056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77.1% – 100%, depending on collection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92240" y="3200400"/>
            <a:ext cx="3913632" cy="676656"/>
          </a:xfrm>
          <a:prstGeom prst="roundRect">
            <a:avLst>
              <a:gd name="adj" fmla="val 10811"/>
            </a:avLst>
          </a:prstGeom>
          <a:solidFill>
            <a:srgbClr val="2323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75120" y="325526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driverId coverage (MongoDB)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3520440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98.7% – 99.0%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92240" y="3986784"/>
            <a:ext cx="3913632" cy="676656"/>
          </a:xfrm>
          <a:prstGeom prst="roundRect">
            <a:avLst>
              <a:gd name="adj" fmla="val 10811"/>
            </a:avLst>
          </a:prstGeom>
          <a:solidFill>
            <a:srgbClr val="2323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675120" y="404164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match rate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4306824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 (100%) — 3 testing sessions excluded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92240" y="4773168"/>
            <a:ext cx="3913632" cy="676656"/>
          </a:xfrm>
          <a:prstGeom prst="roundRect">
            <a:avLst>
              <a:gd name="adj" fmla="val 10811"/>
            </a:avLst>
          </a:prstGeom>
          <a:solidFill>
            <a:srgbClr val="2323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675120" y="482803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match rate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675120" y="5093208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23/23 championship drivers (100%)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007608"/>
            <a:ext cx="10177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100" i="1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sources are independently complete and consistent, so every post-integration gap reflects differing source coverage — not a pre-existing quality defect.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2026 — Data Management Project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84048" cy="384048"/>
          </a:xfrm>
          <a:prstGeom prst="ellipse">
            <a:avLst/>
          </a:prstGeom>
          <a:solidFill>
            <a:srgbClr val="E106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515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Pit Stop</a:t>
            </a:r>
            <a:endParaRPr lang="en-US" sz="1700" dirty="0"/>
          </a:p>
        </p:txBody>
      </p:sp>
      <p:pic>
        <p:nvPicPr>
          <p:cNvPr id="6" name="Image 0" descr="assets/chart1_pitsto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4937760" cy="30861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796028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2F2F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4905756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5151E"/>
                </a:solidFill>
                <a:latin typeface="Calibri"/>
                <a:ea typeface="Calibri"/>
                <a:cs typeface="Calibri"/>
              </a:rPr>
              <a:t>Franco Colapinto</a:t>
            </a:r>
            <a:r>
              <a:rPr lang="en-US" sz="1200" dirty="0">
                <a:solidFill>
                  <a:srgbClr val="6B6B70"/>
                </a:solidFill>
                <a:latin typeface="Calibri"/>
                <a:ea typeface="Calibri"/>
                <a:cs typeface="Calibri"/>
              </a:rPr>
              <a:t>  (Alpine)
</a:t>
            </a:r>
            <a:r>
              <a:rPr lang="en-US" sz="2000" b="1" dirty="0">
                <a:solidFill>
                  <a:srgbClr val="E10600"/>
                </a:solidFill>
                <a:latin typeface="Calibri"/>
                <a:ea typeface="Calibri"/>
                <a:cs typeface="Calibri"/>
              </a:rPr>
              <a:t>12.092s</a:t>
            </a:r>
            <a:r>
              <a:rPr lang="en-US" sz="1250" dirty="0">
                <a:solidFill>
                  <a:srgbClr val="3A3A3F"/>
                </a:solidFill>
                <a:latin typeface="Calibri"/>
                <a:ea typeface="Calibri"/>
                <a:cs typeface="Calibri"/>
              </a:rPr>
              <a:t>  at lap 8, Dutch Grand Prix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63640" y="1051560"/>
            <a:ext cx="384048" cy="384048"/>
          </a:xfrm>
          <a:prstGeom prst="ellipse">
            <a:avLst/>
          </a:prstGeom>
          <a:solidFill>
            <a:srgbClr val="00A19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26364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1051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Peak Speed</a:t>
            </a:r>
            <a:endParaRPr lang="en-US" sz="1700" dirty="0"/>
          </a:p>
        </p:txBody>
      </p:sp>
      <p:pic>
        <p:nvPicPr>
          <p:cNvPr id="12" name="Image 1" descr="assets/chart2_max_spe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600200"/>
            <a:ext cx="4937760" cy="30861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63640" y="4796028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2F2F4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446520" y="4905756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Bortoleto</a:t>
            </a: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(Audi)
</a:t>
            </a:r>
            <a:r>
              <a:rPr lang="en-US" sz="2000" b="1" dirty="0">
                <a:solidFill>
                  <a:srgbClr val="00A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360.0 km/h</a:t>
            </a:r>
            <a:r>
              <a:rPr lang="en-US" sz="125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 lap 2, Barcelona-Catalunya GP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2026 — Data Management Project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84048" cy="384048"/>
          </a:xfrm>
          <a:prstGeom prst="ellipse">
            <a:avLst/>
          </a:prstGeom>
          <a:solidFill>
            <a:srgbClr val="E106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51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MEDIUM-Tyre Pace — Barcelona</a:t>
            </a:r>
            <a:endParaRPr lang="en-US" sz="1550" dirty="0"/>
          </a:p>
        </p:txBody>
      </p:sp>
      <p:pic>
        <p:nvPicPr>
          <p:cNvPr id="6" name="Image 0" descr="assets/chart3_tyre_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4690872" cy="351815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5209794"/>
            <a:ext cx="4690872" cy="914400"/>
          </a:xfrm>
          <a:prstGeom prst="roundRect">
            <a:avLst>
              <a:gd name="adj" fmla="val 8000"/>
            </a:avLst>
          </a:prstGeom>
          <a:solidFill>
            <a:srgbClr val="F2F2F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5209794"/>
            <a:ext cx="4325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Hamilton</a:t>
            </a: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(Ferrari)  —  </a:t>
            </a:r>
            <a:r>
              <a:rPr lang="en-US" sz="1600" b="1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81.117s</a:t>
            </a:r>
            <a:r>
              <a:rPr lang="en-US" sz="110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avg (12 clean laps)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051560"/>
            <a:ext cx="384048" cy="384048"/>
          </a:xfrm>
          <a:prstGeom prst="ellipse">
            <a:avLst/>
          </a:prstGeom>
          <a:solidFill>
            <a:srgbClr val="00A19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26364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1051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Qualifying-to-Race Comeback</a:t>
            </a:r>
            <a:endParaRPr lang="en-US" sz="1550" dirty="0"/>
          </a:p>
        </p:txBody>
      </p:sp>
      <p:pic>
        <p:nvPicPr>
          <p:cNvPr id="12" name="Image 1" descr="assets/chart4_comeb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600200"/>
            <a:ext cx="4023360" cy="35204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63640" y="52120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2F2F4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446520" y="519379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Alonso</a:t>
            </a: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600" b="1" dirty="0">
                <a:solidFill>
                  <a:srgbClr val="00A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</a:t>
            </a:r>
            <a:r>
              <a:rPr lang="en-US" sz="110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pos. (Monaco)   </a:t>
            </a:r>
            <a:r>
              <a:rPr lang="en-US" sz="1600" b="1" dirty="0">
                <a:solidFill>
                  <a:srgbClr val="00A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+3.25</a:t>
            </a:r>
            <a:r>
              <a:rPr lang="en-US" sz="110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/race avg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2026 — Data Management Project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120640" cy="4754880"/>
          </a:xfrm>
          <a:prstGeom prst="roundRect">
            <a:avLst>
              <a:gd name="adj" fmla="val 1923"/>
            </a:avLst>
          </a:prstGeom>
          <a:solidFill>
            <a:srgbClr val="F2F2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A3A3F"/>
                </a:solidFill>
                <a:latin typeface="Calibri"/>
                <a:ea typeface="Calibri"/>
                <a:cs typeface="Calibri"/>
              </a:rPr>
              <a:t>RQ1 pit stop duration reflects total pit-lane time (entry to exit), not the shorter stationary/</a:t>
            </a:r>
            <a:r>
              <a:rPr lang="en-US" sz="1250" dirty="0" err="1">
                <a:solidFill>
                  <a:srgbClr val="3A3A3F"/>
                </a:solidFill>
                <a:latin typeface="Calibri"/>
                <a:ea typeface="Calibri"/>
                <a:cs typeface="Calibri"/>
              </a:rPr>
              <a:t>tyre</a:t>
            </a:r>
            <a:r>
              <a:rPr lang="en-US" sz="1250" dirty="0">
                <a:solidFill>
                  <a:srgbClr val="3A3A3F"/>
                </a:solidFill>
                <a:latin typeface="Calibri"/>
                <a:ea typeface="Calibri"/>
                <a:cs typeface="Calibri"/>
              </a:rPr>
              <a:t>-change time alone (2–3s in real F1); not directly comparable to widely cited “fastest stop” records</a:t>
            </a:r>
            <a:endParaRPr lang="en-US" sz="1250" dirty="0">
              <a:latin typeface="Calibri"/>
              <a:ea typeface="Calibri"/>
              <a:cs typeface="Calibri"/>
            </a:endParaRPr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pace comparison mixes drivers with very different clean-lap counts (4 to 37)</a:t>
            </a:r>
            <a:endParaRPr lang="en-US" sz="1250">
              <a:ea typeface="Calibri" panose="020F0502020204030204"/>
              <a:cs typeface="Calibri" panose="020F0502020204030204"/>
            </a:endParaRPr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still in progress at acquisition time — several races present only in MySQL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race-name discrepancy required a manually curated mapping rule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0" y="1280160"/>
            <a:ext cx="5696712" cy="4754880"/>
          </a:xfrm>
          <a:prstGeom prst="roundRect">
            <a:avLst>
              <a:gd name="adj" fmla="val 1923"/>
            </a:avLst>
          </a:prstGeom>
          <a:solidFill>
            <a:srgbClr val="1515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0" y="1508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01168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once the 2026 season is complete, for a full-season comeback ranking and peak-speed comparison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spatial dimension: combine TracingInsights corner coordinates with MySQL circuits.lat/lng (e.g. MySQL spatial types or PostGIS)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outlier detection on raw telemetry before analysis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cross-season driver/race key-mapping lookup table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2026 — Data Management Project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E10600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9601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✓"/>
            </a:pPr>
            <a:r>
              <a:rPr lang="en-US" sz="15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reproducible pipeline across two DBMS chosen to fit each source's structure</a:t>
            </a:r>
            <a:endParaRPr lang="en-US" sz="1500" dirty="0"/>
          </a:p>
          <a:p>
            <a:pPr marL="228600" indent="-228600">
              <a:spcAft>
                <a:spcPts val="1800"/>
              </a:spcAft>
              <a:buSzPct val="100000"/>
              <a:buChar char="✓"/>
            </a:pPr>
            <a:r>
              <a:rPr lang="en-US" sz="15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accuracy explicitly measured: 100% of championship drivers and completed races matched</a:t>
            </a:r>
            <a:endParaRPr lang="en-US" sz="1500" dirty="0"/>
          </a:p>
          <a:p>
            <a:pPr marL="228600" indent="-228600">
              <a:spcAft>
                <a:spcPts val="1800"/>
              </a:spcAft>
              <a:buSzPct val="100000"/>
              <a:buChar char="✓"/>
            </a:pPr>
            <a:r>
              <a:rPr lang="en-US" sz="15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quality gap traced to a documented cause, not left as an unexplained defect</a:t>
            </a:r>
            <a:endParaRPr lang="en-US" sz="1500" dirty="0"/>
          </a:p>
          <a:p>
            <a:pPr marL="228600" indent="-228600">
              <a:spcAft>
                <a:spcPts val="1800"/>
              </a:spcAft>
              <a:buSzPct val="100000"/>
              <a:buChar char="✓"/>
            </a:pPr>
            <a:r>
              <a:rPr lang="en-US" sz="150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research questions answered — 2 in pure SQL, 2 requiring MongoDB's telemetry-level detail — demonstrating the value of combining both sources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5212080"/>
            <a:ext cx="1828800" cy="0"/>
          </a:xfrm>
          <a:prstGeom prst="line">
            <a:avLst/>
          </a:prstGeom>
          <a:noFill/>
          <a:ln w="25400">
            <a:solidFill>
              <a:srgbClr val="E106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5349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Filippo Avon  —  886229  —  Data Management, Università degli Studi di Milano-Bicocca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15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6" baseType="lpstr"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19</cp:revision>
  <dcterms:created xsi:type="dcterms:W3CDTF">2026-09-07T21:42:02Z</dcterms:created>
  <dcterms:modified xsi:type="dcterms:W3CDTF">2026-09-08T13:42:41Z</dcterms:modified>
</cp:coreProperties>
</file>